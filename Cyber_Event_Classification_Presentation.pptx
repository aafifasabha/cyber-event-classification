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Test Accuracy by Model (Random Baseline = 0.125)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B4C6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Random Forest</c:v>
                  </c:pt>
                  <c:pt idx="1">
                    <c:v>Decision Tree</c:v>
                  </c:pt>
                  <c:pt idx="2">
                    <c:v>Logistic Regression</c:v>
                  </c:pt>
                  <c:pt idx="3">
                    <c:v>ANN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0.129</c:v>
                </c:pt>
                <c:pt idx="1">
                  <c:v>0.1246</c:v>
                </c:pt>
                <c:pt idx="2">
                  <c:v>0.1241</c:v>
                </c:pt>
                <c:pt idx="3">
                  <c:v>0.1229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7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capstone project applies a complete machine learning pipeline to classify cyber-attack types from a synthesized cybersecurity dataset, built on Breiman's Random Forest methodology. Presented by Afifa Sabha and Satvik Kumar.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Cybersecurity incidents are increasing in volume, making manual classification infeasible. This project explores whether machine learning can automate the classification of attack types, using Random Forest theory as its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given recorded incident attributes, can we predict which of 8 attack types occurred? This is a multiclass classification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 guide the project: from data cleaning through model selection, with an emphasis on rigorous, transparent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literature review draws on 15 real, cited papers spanning Random Forest theory, IDS benchmark datasets, dataset auditing, and phishing/DDoS detection studies. A key theme: dataset quality is as important as model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literature review reveals a gap: most studies don't audit dataset quality before benchmarking models. This project's novelty is treating that audit as a core deliverable, using convergence across 4 different models as diagnostic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has 100,000 records, 15 attributes, 8 balanced attack-type classes, and no missing or duplicate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methodology follows a standard, reproducible seven-stage pipeline applied identically across all four models to ensure a fair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cleaning found the dataset already structurally clean — no missing values or duplicates — but we still standardized text and checked for outliers as good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EDA covered 8 visualizations. Two key ones shown here: the balanced target distribution, and boxplots showing numeric features barely differ across attack types — a strong early hint at the eventual model performance ceiling.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engineering included dropping identifiers, extracting time-based features, encoding categoricals, and scaling numerics — each step justified by the requirements of our downstream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models were selected to span the major model families used in the literature: linear, single-tree, ensemble-tree, and neural network — enabling a robust cross-architecture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GridSearchCV selected the best Random Forest and Decision Tree configurations by 3-fold cross-validation accuracy. Notably, tuning barely moved performance — reinforcing that the ceiling is data-driven, not tuning-driven.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achieves the highest accuracy and F1 score, marginally ahead of the other three models — all cluster tightly around the 12.5% random baseline for this 8-class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confirmation from ROC-AUC and error analysis: all models rank near chance level, and misclassification is spread evenly across classes rather than concentrated on similar attack-type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limitation is the dataset itself, not the modeling approach. This has a real practical implication: security teams should audit feature quality before trusting an ML classifier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we built a rigorous ML pipeline and selected Random Forest as our recommended model. Our key contribution is the transparent, multi-method diagnosis that this dataset lacks predictive signal — a genuine and important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 includes validating this pipeline on real-world datasets, adding SHAP interpretability, exploring gradient boosting and hybrid deep learning models, and deploying the model behind an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Selected references shown here; the full 15-paper APA 7th edition reference list is in the thesis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We're happy to take any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shiel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69680" y="4206240"/>
            <a:ext cx="2926080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051560"/>
            <a:ext cx="566928" cy="566928"/>
          </a:xfrm>
          <a:prstGeom prst="ellipse">
            <a:avLst/>
          </a:prstGeom>
          <a:solidFill>
            <a:srgbClr val="00B4C6"/>
          </a:solidFill>
          <a:ln/>
        </p:spPr>
      </p:sp>
      <p:pic>
        <p:nvPicPr>
          <p:cNvPr id="4" name="Image 1" descr="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11" y="1119591"/>
            <a:ext cx="430865" cy="4308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71600" y="10789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DATA110  •  CAPSTONE PROJECT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40080" y="214884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Event Classification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640080" y="2926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Techniques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658368" y="3977640"/>
            <a:ext cx="0" cy="960120"/>
          </a:xfrm>
          <a:prstGeom prst="line">
            <a:avLst/>
          </a:prstGeom>
          <a:noFill/>
          <a:ln w="31750">
            <a:solidFill>
              <a:srgbClr val="00B4C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14400" y="3977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Afifa Sabha  •  Satvik Kumar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Data110 Capstone Project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Breiman, L. (2001). Random Forests. Machine Learning, 45(1), 5–32.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Cyberattacks are growing in scale, speed, and sophistication across every industry.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of security incidents no longer scales with modern event volume.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offers a path to automate classification of attack type from incident attributes.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and evaluates a complete ML pipeline for cyber-event classification, grounded in the ensemble learning theory of Breiman (2001).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crossh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0F2A4A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69164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supervised machine learning model accurately predict the type of cyber-attack (attack_type) associated with a recorded security incident?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Formulated as an 8-class multiclass classification problem.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Phishing, DDoS, Zero-Day, Ransomware, Malware, SQL Injection, Brute Force, XSS.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15 recorded attributes per incident (attack characteristics, target system, organizational context, response metrics).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325880"/>
            <a:ext cx="5257800" cy="1207008"/>
          </a:xfrm>
          <a:prstGeom prst="roundRect">
            <a:avLst>
              <a:gd name="adj" fmla="val 4545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" y="1472184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14721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508760" y="1417320"/>
            <a:ext cx="4206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explore the cybersecurity events dataset thoroughly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325880"/>
            <a:ext cx="5257800" cy="1207008"/>
          </a:xfrm>
          <a:prstGeom prst="roundRect">
            <a:avLst>
              <a:gd name="adj" fmla="val 4545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28232" y="1472184"/>
            <a:ext cx="566928" cy="566928"/>
          </a:xfrm>
          <a:prstGeom prst="ellipse">
            <a:avLst/>
          </a:prstGeom>
          <a:solidFill>
            <a:srgbClr val="13456B"/>
          </a:solidFill>
          <a:ln/>
        </p:spPr>
      </p:sp>
      <p:sp>
        <p:nvSpPr>
          <p:cNvPr id="11" name="Text 8"/>
          <p:cNvSpPr/>
          <p:nvPr/>
        </p:nvSpPr>
        <p:spPr>
          <a:xfrm>
            <a:off x="6428232" y="14721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132320" y="1417320"/>
            <a:ext cx="4206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relevant temporal and derived features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2770632"/>
            <a:ext cx="5257800" cy="1207008"/>
          </a:xfrm>
          <a:prstGeom prst="roundRect">
            <a:avLst>
              <a:gd name="adj" fmla="val 4545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4672" y="2916936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804672" y="2916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508760" y="2862072"/>
            <a:ext cx="4206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4 classifiers: Logistic Regression, Decision Tree, Random Forest, ANN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63640" y="2770632"/>
            <a:ext cx="5257800" cy="1207008"/>
          </a:xfrm>
          <a:prstGeom prst="roundRect">
            <a:avLst>
              <a:gd name="adj" fmla="val 4545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28232" y="2916936"/>
            <a:ext cx="566928" cy="566928"/>
          </a:xfrm>
          <a:prstGeom prst="ellipse">
            <a:avLst/>
          </a:prstGeom>
          <a:solidFill>
            <a:srgbClr val="13456B"/>
          </a:solidFill>
          <a:ln/>
        </p:spPr>
      </p:sp>
      <p:sp>
        <p:nvSpPr>
          <p:cNvPr id="19" name="Text 16"/>
          <p:cNvSpPr/>
          <p:nvPr/>
        </p:nvSpPr>
        <p:spPr>
          <a:xfrm>
            <a:off x="6428232" y="2916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132320" y="2862072"/>
            <a:ext cx="4206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via GridSearchCV; validate via 5-fold cross-validation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40080" y="4215384"/>
            <a:ext cx="5257800" cy="1207008"/>
          </a:xfrm>
          <a:prstGeom prst="roundRect">
            <a:avLst>
              <a:gd name="adj" fmla="val 4545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4672" y="4361688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23" name="Text 20"/>
          <p:cNvSpPr/>
          <p:nvPr/>
        </p:nvSpPr>
        <p:spPr>
          <a:xfrm>
            <a:off x="804672" y="43616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508760" y="4306824"/>
            <a:ext cx="4206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using Accuracy, Precision, Recall, F1, ROC-AUC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263640" y="4215384"/>
            <a:ext cx="5257800" cy="1207008"/>
          </a:xfrm>
          <a:prstGeom prst="roundRect">
            <a:avLst>
              <a:gd name="adj" fmla="val 4545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28232" y="4361688"/>
            <a:ext cx="566928" cy="566928"/>
          </a:xfrm>
          <a:prstGeom prst="ellipse">
            <a:avLst/>
          </a:prstGeom>
          <a:solidFill>
            <a:srgbClr val="13456B"/>
          </a:solidFill>
          <a:ln/>
        </p:spPr>
      </p:sp>
      <p:sp>
        <p:nvSpPr>
          <p:cNvPr id="27" name="Text 24"/>
          <p:cNvSpPr/>
          <p:nvPr/>
        </p:nvSpPr>
        <p:spPr>
          <a:xfrm>
            <a:off x="6428232" y="43616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7132320" y="4306824"/>
            <a:ext cx="4206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justify the best model transparently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book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Key Studies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4206240"/>
        </p:xfrm>
        <a:graphic>
          <a:graphicData uri="http://schemas.openxmlformats.org/drawingml/2006/table">
            <a:tbl>
              <a:tblPr/>
              <a:tblGrid>
                <a:gridCol w="2926080"/>
                <a:gridCol w="3474720"/>
                <a:gridCol w="448056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Breiman (2001)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theory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Ensembles of trees reduce variance vs. single trees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Alharbi &amp; Islam (2019)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+ feature selection for IDS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selection improves accuracy and speed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Sharafaldin et al. (2018)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CICIDS2017 benchmark 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a widely-used labeled IDS 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Engelen et al. (2021)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CICIDS2017 audit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labeling/leakage issues inflating 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et al.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 ML survey for IDS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benchmark accuracy ≠ real-world robustness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Kapan &amp; Sora Gunal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 &amp; feature evaluation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selection matters more than algorithm choice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review covers 15 papers (2001–2026); see Thesis Report, Chapter 2.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Novelty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most cybersecurity ML studies assume the dataset has genuine class-conditional signal; few explicitly audit and report when it doesn't.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this project applies a rigorous, consistent 4-model comparison and treats dataset-quality auditing as a first-class deliverable, not an afterthought.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cross-model convergence test (4 independent architectures agreeing on near-baseline performance) is used as diagnostic evidence — distinguishing a data problem from a model problem.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0F2A4A"/>
          </a:solidFill>
          <a:ln/>
        </p:spPr>
      </p:sp>
      <p:sp>
        <p:nvSpPr>
          <p:cNvPr id="6" name="Shape 3"/>
          <p:cNvSpPr/>
          <p:nvPr/>
        </p:nvSpPr>
        <p:spPr>
          <a:xfrm>
            <a:off x="2587752" y="1481328"/>
            <a:ext cx="420624" cy="420624"/>
          </a:xfrm>
          <a:prstGeom prst="ellipse">
            <a:avLst/>
          </a:prstGeom>
          <a:solidFill>
            <a:srgbClr val="00B4C6"/>
          </a:solidFill>
          <a:ln/>
        </p:spPr>
      </p:sp>
      <p:pic>
        <p:nvPicPr>
          <p:cNvPr id="7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227" y="1531803"/>
            <a:ext cx="319674" cy="3196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15361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822960" y="2194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9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429000" y="137160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13456B"/>
          </a:solidFill>
          <a:ln/>
        </p:spPr>
      </p:sp>
      <p:sp>
        <p:nvSpPr>
          <p:cNvPr id="11" name="Shape 7"/>
          <p:cNvSpPr/>
          <p:nvPr/>
        </p:nvSpPr>
        <p:spPr>
          <a:xfrm>
            <a:off x="5376672" y="1481328"/>
            <a:ext cx="420624" cy="420624"/>
          </a:xfrm>
          <a:prstGeom prst="ellipse">
            <a:avLst/>
          </a:prstGeom>
          <a:solidFill>
            <a:srgbClr val="00B4C6"/>
          </a:solidFill>
          <a:ln/>
        </p:spPr>
      </p:sp>
      <p:pic>
        <p:nvPicPr>
          <p:cNvPr id="12" name="Image 2" descr="icons/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147" y="1531803"/>
            <a:ext cx="319674" cy="3196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11880" y="15361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3611880" y="2194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9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217920" y="137160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0F2A4A"/>
          </a:solidFill>
          <a:ln/>
        </p:spPr>
      </p:sp>
      <p:sp>
        <p:nvSpPr>
          <p:cNvPr id="16" name="Shape 11"/>
          <p:cNvSpPr/>
          <p:nvPr/>
        </p:nvSpPr>
        <p:spPr>
          <a:xfrm>
            <a:off x="8165592" y="1481328"/>
            <a:ext cx="420624" cy="420624"/>
          </a:xfrm>
          <a:prstGeom prst="ellipse">
            <a:avLst/>
          </a:prstGeom>
          <a:solidFill>
            <a:srgbClr val="00B4C6"/>
          </a:solidFill>
          <a:ln/>
        </p:spPr>
      </p:sp>
      <p:pic>
        <p:nvPicPr>
          <p:cNvPr id="17" name="Image 3" descr="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067" y="1531803"/>
            <a:ext cx="319674" cy="31967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0" y="15361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9" name="Text 13"/>
          <p:cNvSpPr/>
          <p:nvPr/>
        </p:nvSpPr>
        <p:spPr>
          <a:xfrm>
            <a:off x="6400800" y="2194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9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 Classes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006840" y="137160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13456B"/>
          </a:solidFill>
          <a:ln/>
        </p:spPr>
      </p:sp>
      <p:sp>
        <p:nvSpPr>
          <p:cNvPr id="21" name="Shape 15"/>
          <p:cNvSpPr/>
          <p:nvPr/>
        </p:nvSpPr>
        <p:spPr>
          <a:xfrm>
            <a:off x="10954512" y="1481328"/>
            <a:ext cx="420624" cy="420624"/>
          </a:xfrm>
          <a:prstGeom prst="ellipse">
            <a:avLst/>
          </a:prstGeom>
          <a:solidFill>
            <a:srgbClr val="00B4C6"/>
          </a:solidFill>
          <a:ln/>
        </p:spPr>
      </p:sp>
      <p:pic>
        <p:nvPicPr>
          <p:cNvPr id="22" name="Image 4" descr="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4987" y="1531803"/>
            <a:ext cx="319674" cy="31967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89720" y="15361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4" name="Text 17"/>
          <p:cNvSpPr/>
          <p:nvPr/>
        </p:nvSpPr>
        <p:spPr>
          <a:xfrm>
            <a:off x="9189720" y="2194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9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40080" y="324612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attack_type — Phishing, DDoS, Zero-Day, Ransomware, Malware, SQL Injection, Brute Force, XSS (balanced, ~12,500 each)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Predictors: target_system, outcome, security_tools_used, user_role, location, industry, mitigation_method, data_compromised_GB, attack_duration_min, attack_severity, response_time_min, timestamp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values, no duplicate rows — structurally clean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git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Pipeline Flow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48056" y="274320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0F2A4A"/>
          </a:solidFill>
          <a:ln/>
        </p:spPr>
      </p:sp>
      <p:sp>
        <p:nvSpPr>
          <p:cNvPr id="6" name="Text 3"/>
          <p:cNvSpPr/>
          <p:nvPr/>
        </p:nvSpPr>
        <p:spPr>
          <a:xfrm>
            <a:off x="448056" y="274320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865376" y="274320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093976" y="274320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13456B"/>
          </a:solidFill>
          <a:ln/>
        </p:spPr>
      </p:sp>
      <p:sp>
        <p:nvSpPr>
          <p:cNvPr id="9" name="Text 6"/>
          <p:cNvSpPr/>
          <p:nvPr/>
        </p:nvSpPr>
        <p:spPr>
          <a:xfrm>
            <a:off x="2093976" y="274320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511296" y="274320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739896" y="274320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0F2A4A"/>
          </a:solidFill>
          <a:ln/>
        </p:spPr>
      </p:sp>
      <p:sp>
        <p:nvSpPr>
          <p:cNvPr id="12" name="Text 9"/>
          <p:cNvSpPr/>
          <p:nvPr/>
        </p:nvSpPr>
        <p:spPr>
          <a:xfrm>
            <a:off x="3739896" y="274320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157216" y="274320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385816" y="274320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13456B"/>
          </a:solidFill>
          <a:ln/>
        </p:spPr>
      </p:sp>
      <p:sp>
        <p:nvSpPr>
          <p:cNvPr id="15" name="Text 12"/>
          <p:cNvSpPr/>
          <p:nvPr/>
        </p:nvSpPr>
        <p:spPr>
          <a:xfrm>
            <a:off x="5385816" y="274320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803136" y="274320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031736" y="274320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0F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7031736" y="274320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449056" y="274320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677656" y="274320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13456B"/>
          </a:solidFill>
          <a:ln/>
        </p:spPr>
      </p:sp>
      <p:sp>
        <p:nvSpPr>
          <p:cNvPr id="21" name="Text 18"/>
          <p:cNvSpPr/>
          <p:nvPr/>
        </p:nvSpPr>
        <p:spPr>
          <a:xfrm>
            <a:off x="8677656" y="274320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0094976" y="274320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323576" y="274320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0F2A4A"/>
          </a:solidFill>
          <a:ln/>
        </p:spPr>
      </p:sp>
      <p:sp>
        <p:nvSpPr>
          <p:cNvPr id="24" name="Text 21"/>
          <p:cNvSpPr/>
          <p:nvPr/>
        </p:nvSpPr>
        <p:spPr>
          <a:xfrm>
            <a:off x="10323576" y="274320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40080" y="4572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consistent, reproducible pipeline applied identically to all four models for fair comparison.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4114800"/>
        </p:xfrm>
        <a:graphic>
          <a:graphicData uri="http://schemas.openxmlformats.org/drawingml/2006/table">
            <a:tbl>
              <a:tblPr/>
              <a:tblGrid>
                <a:gridCol w="2560320"/>
                <a:gridCol w="4663440"/>
                <a:gridCol w="36576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across all 15 columns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Full-row duplicate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formatting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Trimmed whitespace on categorical 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(IQR)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on 4 numeric columns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Rare; retained as plausible edge cases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Parsed to datetime; decomposed to hour/day/month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for feature engineering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75488" y="1207008"/>
            <a:ext cx="5541264" cy="3529584"/>
          </a:xfrm>
          <a:prstGeom prst="roundRect">
            <a:avLst>
              <a:gd name="adj" fmla="val 1036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9048" y="1207008"/>
            <a:ext cx="5541264" cy="3529584"/>
          </a:xfrm>
          <a:prstGeom prst="roundRect">
            <a:avLst>
              <a:gd name="adj" fmla="val 1036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pic>
        <p:nvPicPr>
          <p:cNvPr id="7" name="Image 1" descr="images/01_class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394960" cy="3383280"/>
          </a:xfrm>
          <a:prstGeom prst="rect">
            <a:avLst/>
          </a:prstGeom>
        </p:spPr>
      </p:pic>
      <p:pic>
        <p:nvPicPr>
          <p:cNvPr id="8" name="Image 2" descr="images/04_boxplo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80160"/>
            <a:ext cx="5394960" cy="33832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balanced across 8 classes; numeric features show near-identical distributions across attack types — an early signal of low class-discriminative signal.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4937760"/>
              </a:tblGrid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 removal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attacker_ip, target_ip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memorization of near-unique values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extraction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 hour / day-of-week / month patterns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is_business_hours flag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Encoding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attack_type (target)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format required by classifiers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Encoding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nominal columns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false ordinal relationships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Scaling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numeric columns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for Logistic Regression &amp; ANN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 &amp; Justification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6112" y="1627632"/>
            <a:ext cx="530352" cy="530352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7" name="Image 1" descr="icons/trending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54" y="1691274"/>
            <a:ext cx="403068" cy="4030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59105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914400" y="22860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 linear baseline; sets a lower performance bound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126480" y="13716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82512" y="1627632"/>
            <a:ext cx="530352" cy="530352"/>
          </a:xfrm>
          <a:prstGeom prst="ellipse">
            <a:avLst/>
          </a:prstGeom>
          <a:solidFill>
            <a:srgbClr val="13456B"/>
          </a:solidFill>
          <a:ln/>
        </p:spPr>
      </p:sp>
      <p:pic>
        <p:nvPicPr>
          <p:cNvPr id="12" name="Image 2" descr="icons/git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154" y="1691274"/>
            <a:ext cx="403068" cy="4030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159105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6400800" y="22860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non-linear model; building block for Random Forest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36576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96112" y="3913632"/>
            <a:ext cx="530352" cy="530352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7" name="Image 3" descr="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754" y="3977274"/>
            <a:ext cx="403068" cy="4030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387705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914400" y="45720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candidate (Breiman, 2001) — robust ensemble, feature importances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126480" y="36576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82512" y="3913632"/>
            <a:ext cx="530352" cy="530352"/>
          </a:xfrm>
          <a:prstGeom prst="ellipse">
            <a:avLst/>
          </a:prstGeom>
          <a:solidFill>
            <a:srgbClr val="13456B"/>
          </a:solidFill>
          <a:ln/>
        </p:spPr>
      </p:sp>
      <p:pic>
        <p:nvPicPr>
          <p:cNvPr id="22" name="Image 4" descr="icons/cp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154" y="3977274"/>
            <a:ext cx="403068" cy="4030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86600" y="387705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6400800" y="45720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higher-capacity non-linear modeling adds value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219456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2743200"/>
                <a:gridCol w="210312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Searched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CV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 ∈ {100,150}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 ∈ {10,20}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max_depth=20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 ∈ {5,10,15,20}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min_samples_split ∈ {2,5,10}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 depth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min_samples_split=2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402336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criterion: highest mean 3-fold cross-validation accuracy on the training set.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 kept compact given single-core compute — still explore meaningful ranges for both models.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converge to similar CV accuracy regardless of configuration, itself informative.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bar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192024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554480"/>
                <a:gridCol w="155448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640080" y="3429000"/>
          <a:ext cx="108813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ROC &amp; Error Analysis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84048" y="1161288"/>
            <a:ext cx="5943600" cy="5120640"/>
          </a:xfrm>
          <a:prstGeom prst="roundRect">
            <a:avLst>
              <a:gd name="adj" fmla="val 714"/>
            </a:avLst>
          </a:prstGeom>
          <a:solidFill>
            <a:srgbClr val="F3F6F9"/>
          </a:solidFill>
          <a:ln w="9525">
            <a:solidFill>
              <a:srgbClr val="DCE3EA"/>
            </a:solidFill>
            <a:prstDash val="solid"/>
          </a:ln>
        </p:spPr>
      </p:sp>
      <p:pic>
        <p:nvPicPr>
          <p:cNvPr id="6" name="Image 1" descr="images/13_roc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760720" cy="5029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2240" y="146304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Macro-avg ROC-AUC clusters near 0.50 for all 4 models — chance-level ranking ability.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(Random Forest) misclassifies 87.1% of test samples.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error rate: 84.6%–89.0% — a narrow 4.4-point spread across all 8 classes.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dominant confusion pair — errors are broadly spread, not concentrated between similar attack types.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alert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Implications &amp; Dataset Limitations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(numeric &amp; categorical) is distributed almost uniformly with respect to attack_type — the dataset appears synthetically/randomly generated rather than reflecting real attack telemetry.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model architectures converge on the same near-baseline performance — strong evidence the limitation is data-driven, not model- or tuning-driven.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takeaway: before deploying any classifier operationally, audit that logged features (e.g., packet-level or behavioral signals) actually carry discriminative signal — following the dataset-audit precedent of Engelen et al. (2021).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rigorously evaluated a complete ML pipeline for cyber-event classification across 4 model families.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selected as the recommended model — highest accuracy/F1, and strongest robustness &amp; interpretability per Breiman (2001).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contribution: transparent diagnosis that this dataset lacks meaningful class-conditional signal, demonstrated consistently across EDA, 4 models, cross-validation, ROC-AUC, and error analysis.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reporting of near-baseline results reflects sound data science practice — not a pipeline failure.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this same pipeline to a real-world or realistically simulated dataset (e.g., CICIDS2017, UNSW-NB15).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SHAP-based interpretability to complement Random Forest feature importances.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gradient boosting (XGBoost, LightGBM) and hybrid CNN-LSTM architectures.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trained Random Forest model behind a lightweight inference API.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dataset-quality auditing as a standard first step before model development.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" name="Image 0" descr="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415503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474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(Selected)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Breiman, L. (2001). Random forests. Machine Learning, 45(1), 5–32.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Sharafaldin, I., Lashkari, A. H., &amp; Ghorbani, A. A. (2018). Toward generating a new intrusion detection dataset and intrusion traffic characterization. ICISSP, 1, 108–116.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Engelen, G., Rimmer, V., &amp; Joosen, W. (2021). Troubleshooting an intrusion detection dataset: The CICIDS2017 case study. IEEE S&amp;P Workshops, 7–12.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He, K., Kim, D. D., &amp; Asghar, M. R. (2023). Adversarial machine learning for network intrusion detection systems: A comprehensive survey. IEEE Communications Surveys &amp; Tutorials, 25(1), 538–566.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15-paper reference list in the accompanying Thesis Report (APA 7th Edition).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messageCircle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052560" y="18288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15584" y="1965960"/>
            <a:ext cx="566928" cy="566928"/>
          </a:xfrm>
          <a:prstGeom prst="ellipse">
            <a:avLst/>
          </a:prstGeom>
          <a:solidFill>
            <a:srgbClr val="00B4C6"/>
          </a:solidFill>
          <a:ln/>
        </p:spPr>
      </p:sp>
      <p:pic>
        <p:nvPicPr>
          <p:cNvPr id="4" name="Image 1" descr="icons/message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15" y="2033991"/>
            <a:ext cx="430865" cy="4308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69748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640080" y="36118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Afifa Sabha  •  Satvik Kumar  —  Data110 Capstone 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2026-08-07T04:48:13Z</dcterms:created>
  <dcterms:modified xsi:type="dcterms:W3CDTF">2026-08-07T04:48:13Z</dcterms:modified>
</cp:coreProperties>
</file>